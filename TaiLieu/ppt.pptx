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9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Tw Cen MT" panose="020B06020201040206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79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6677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1042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8376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2018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915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223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4309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8353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7895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3048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0640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03893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5114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0911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1390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03416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78348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9173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7672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321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742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284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534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2676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662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6004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59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38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  <p:sldLayoutId id="2147483909" r:id="rId18"/>
    <p:sldLayoutId id="2147483910" r:id="rId19"/>
    <p:sldLayoutId id="2147483911" r:id="rId20"/>
    <p:sldLayoutId id="2147483912" r:id="rId21"/>
    <p:sldLayoutId id="2147483913" r:id="rId22"/>
    <p:sldLayoutId id="2147483914" r:id="rId23"/>
    <p:sldLayoutId id="2147483915" r:id="rId24"/>
    <p:sldLayoutId id="2147483916" r:id="rId25"/>
    <p:sldLayoutId id="2147483917" r:id="rId26"/>
    <p:sldLayoutId id="2147483918" r:id="rId27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06403CAC-6103-44C9-B687-A2C18173F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669E88-AA72-437F-AA99-859F9E99E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40FCD49-2060-48B9-8212-8A5F1DF47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>
            <a:alphaModFix amt="35000"/>
          </a:blip>
          <a:srcRect t="26443" b="36010"/>
          <a:stretch>
            <a:fillRect/>
          </a:stretch>
        </p:blipFill>
        <p:spPr>
          <a:xfrm>
            <a:off x="-4" y="10"/>
            <a:ext cx="9143980" cy="51434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A45DCD-B5FB-4A86-88D2-91088C7F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13259" y="123884"/>
            <a:ext cx="6517482" cy="1881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spcBef>
                <a:spcPct val="0"/>
              </a:spcBef>
              <a:spcAft>
                <a:spcPts val="600"/>
              </a:spcAft>
            </a:pPr>
            <a:r>
              <a:rPr lang="en-US" sz="41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Ứng</a:t>
            </a:r>
            <a:r>
              <a:rPr lang="en-US" sz="4100" cap="all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41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dụng</a:t>
            </a:r>
            <a:r>
              <a:rPr lang="en-US" sz="4100" cap="all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41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đặt</a:t>
            </a:r>
            <a:r>
              <a:rPr lang="en-US" sz="4100" cap="all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41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dịch</a:t>
            </a:r>
            <a:r>
              <a:rPr lang="en-US" sz="4100" cap="all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41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vụ</a:t>
            </a:r>
            <a:r>
              <a:rPr lang="en-US" sz="4100" cap="all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41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</a:t>
            </a:r>
            <a:r>
              <a:rPr lang="en-US" sz="4100" cap="all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41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đình</a:t>
            </a:r>
            <a:r>
              <a:rPr lang="en-US" sz="4100" cap="all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NTDVHOME</a:t>
            </a:r>
          </a:p>
        </p:txBody>
      </p:sp>
      <p:sp>
        <p:nvSpPr>
          <p:cNvPr id="4" name="Text 1"/>
          <p:cNvSpPr/>
          <p:nvPr/>
        </p:nvSpPr>
        <p:spPr>
          <a:xfrm>
            <a:off x="-2" y="3263742"/>
            <a:ext cx="8157096" cy="1028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</a:pPr>
            <a:r>
              <a:rPr lang="en-US" sz="2000" cap="all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Viên </a:t>
            </a:r>
            <a:r>
              <a:rPr lang="en-US" sz="2000" cap="all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cap="all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all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cap="all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Chen </a:t>
            </a:r>
            <a:r>
              <a:rPr lang="en-US" sz="2000" cap="all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Woei</a:t>
            </a:r>
            <a:r>
              <a:rPr lang="en-US" sz="2000" cap="all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Haur</a:t>
            </a:r>
          </a:p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</a:pPr>
            <a:r>
              <a:rPr lang="en-US" sz="2000" cap="all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Vương Quốc Cường</a:t>
            </a:r>
          </a:p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</a:pPr>
            <a:r>
              <a:rPr lang="en-US" sz="2000" cap="all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                         Bùi </a:t>
            </a:r>
            <a:r>
              <a:rPr lang="en-US" sz="2000" cap="all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cap="all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all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000" cap="all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Thảo </a:t>
            </a:r>
          </a:p>
        </p:txBody>
      </p:sp>
      <p:sp>
        <p:nvSpPr>
          <p:cNvPr id="5" name="Text 2"/>
          <p:cNvSpPr/>
          <p:nvPr/>
        </p:nvSpPr>
        <p:spPr>
          <a:xfrm>
            <a:off x="-28" y="2129668"/>
            <a:ext cx="6955715" cy="1308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5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Người hướng dẫn: ThS. Nguyễn Thanh Sơn</a:t>
            </a:r>
            <a:endParaRPr lang="en-US" sz="2800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319" y="53124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Ý tưởng &amp; Bài toán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19" y="1424285"/>
            <a:ext cx="5177582" cy="3106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23569" y="10868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Tổng quan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812146" y="1694935"/>
            <a:ext cx="3320431" cy="888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666666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Chuyển đổi số tăng nhu cầu dịch vụ gia đình nhưng đặt theo cách truyền thống: gọi/nhắn tin - chậm, thiếu minh bạch và khó theo dõi.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812146" y="31873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Mục tiêu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823569" y="3784001"/>
            <a:ext cx="332043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666666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NTDVHOME là nền tảng web kết nối khách hàng và thợ: xem dịch vụ, đặt lịch, theo dõi, trao </a:t>
            </a:r>
            <a:r>
              <a:rPr lang="en-US" sz="2000" dirty="0" err="1">
                <a:solidFill>
                  <a:srgbClr val="666666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đổi,đánh</a:t>
            </a:r>
            <a:r>
              <a:rPr lang="en-US" sz="2000" dirty="0">
                <a:solidFill>
                  <a:srgbClr val="666666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giá và quản lý ví/thống kê cho thợ và admin.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4241"/>
            <a:ext cx="451432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Vấn đề thực tế cần giải quyết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810941"/>
            <a:ext cx="2622724" cy="105318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ctr"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5828" y="19023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Khó tìm thợ phù hợp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2640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Thiếu thông tin uy tín và giá minh bạch.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60601" y="1810941"/>
            <a:ext cx="2622724" cy="105318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ctr"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59162" y="1894338"/>
            <a:ext cx="19175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Điều phối &amp; thu nhập thợ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07122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Khó quản lý lịch, trạng thái đơn và thu nhập.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25083" y="1810941"/>
            <a:ext cx="2622724" cy="105318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ctr"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71605" y="18943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Lỗi trong đặt lịch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71605" y="2263973"/>
            <a:ext cx="247620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Nhập sai địa chỉ, thời gian, yêu cầu do thủ công.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6119" y="3005882"/>
            <a:ext cx="4004965" cy="105318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ctr"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2640" y="3090936"/>
            <a:ext cx="20007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Thiếu đánh giá minh bạch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2640" y="3458914"/>
            <a:ext cx="3853680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Không có kênh phản hồi rõ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ràng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để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đo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chất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lượng.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4965" cy="105318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ctr"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89363" y="30909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Quản trị phân tán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89363" y="3458914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Admin cần hệ thống tập trung để theo dõi người dùng, đơn và tài chính.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2989" y="266800"/>
            <a:ext cx="38156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40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Yêu cầu chức năng chính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8" y="1557200"/>
            <a:ext cx="753740" cy="942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3208" y="1472250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Khách hàng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02841" y="1891940"/>
            <a:ext cx="1828948" cy="189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Đăng ký/đăng nhập, xem dịch vụ, đặt lịch, theo dõi đơn và đánh giá sau khi hoàn thành.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291" y="1557200"/>
            <a:ext cx="753740" cy="942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0211" y="1456084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Thợ / Provider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160211" y="1898984"/>
            <a:ext cx="1828948" cy="1758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Nhận đơn, cập nhật trạng thái, quản lý ví, xem đánh giá và thông tin thu nhập.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927" y="1557200"/>
            <a:ext cx="753740" cy="9421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7581" y="1471926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Admin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107214" y="1898984"/>
            <a:ext cx="1828948" cy="212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Quản lý dịch vụ, người dùng/thợ, duyệt/khoá tài khoản, xử lý rút tiền và thống kê hệ thống.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851" y="264877"/>
            <a:ext cx="33780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Yêu cầu phi chức năng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72901" y="1145307"/>
            <a:ext cx="3934271" cy="859185"/>
          </a:xfrm>
          <a:prstGeom prst="roundRect">
            <a:avLst>
              <a:gd name="adj" fmla="val 1064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3851" y="1145307"/>
            <a:ext cx="76200" cy="859185"/>
          </a:xfrm>
          <a:prstGeom prst="roundRect">
            <a:avLst>
              <a:gd name="adj" fmla="val 159593"/>
            </a:avLst>
          </a:prstGeom>
          <a:solidFill>
            <a:srgbClr val="A2B9F9"/>
          </a:solidFill>
          <a:ln/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9101" y="111466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Tính tiện dụng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322" y="1383086"/>
            <a:ext cx="3628650" cy="60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Giao diện rõ ràng, dễ thao tác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cho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buNone/>
            </a:pP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dùng phổ thông.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2901" y="2133228"/>
            <a:ext cx="3934271" cy="1070297"/>
          </a:xfrm>
          <a:prstGeom prst="roundRect">
            <a:avLst>
              <a:gd name="adj" fmla="val 854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3851" y="2133228"/>
            <a:ext cx="76200" cy="1070297"/>
          </a:xfrm>
          <a:prstGeom prst="roundRect">
            <a:avLst>
              <a:gd name="adj" fmla="val 159593"/>
            </a:avLst>
          </a:prstGeom>
          <a:solidFill>
            <a:srgbClr val="A2B9F9"/>
          </a:solidFill>
          <a:ln/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8985" y="210520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Tính hiệu quả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5587" y="2442499"/>
            <a:ext cx="356889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API phản hồi nhanh, thao tác đặt lịch và cập nhật trạng thái kịp thời.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2901" y="3332262"/>
            <a:ext cx="3934271" cy="1070297"/>
          </a:xfrm>
          <a:prstGeom prst="roundRect">
            <a:avLst>
              <a:gd name="adj" fmla="val 854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3851" y="3332262"/>
            <a:ext cx="76200" cy="1070297"/>
          </a:xfrm>
          <a:prstGeom prst="roundRect">
            <a:avLst>
              <a:gd name="adj" fmla="val 159593"/>
            </a:avLst>
          </a:prstGeom>
          <a:solidFill>
            <a:srgbClr val="A2B9F9"/>
          </a:solidFill>
          <a:ln/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051" y="330908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Tính bảo mật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2322" y="3646243"/>
            <a:ext cx="356889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Mật khẩu băm bằng bcrypt, phân quyền rõ ràng giữa user/admin.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41590" y="1145307"/>
            <a:ext cx="3934271" cy="1070297"/>
          </a:xfrm>
          <a:prstGeom prst="roundRect">
            <a:avLst>
              <a:gd name="adj" fmla="val 854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22540" y="1145307"/>
            <a:ext cx="76200" cy="1070297"/>
          </a:xfrm>
          <a:prstGeom prst="roundRect">
            <a:avLst>
              <a:gd name="adj" fmla="val 159593"/>
            </a:avLst>
          </a:prstGeom>
          <a:solidFill>
            <a:srgbClr val="A2B9F9"/>
          </a:solidFill>
          <a:ln/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17790" y="112934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Tính mở rộng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52851" y="1488684"/>
            <a:ext cx="356889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Dễ thêm dịch vụ, tích hợp thanh toán hoặc thông báo realtime.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41590" y="2344341"/>
            <a:ext cx="3934271" cy="1070297"/>
          </a:xfrm>
          <a:prstGeom prst="roundRect">
            <a:avLst>
              <a:gd name="adj" fmla="val 854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22540" y="2344341"/>
            <a:ext cx="76200" cy="1070297"/>
          </a:xfrm>
          <a:prstGeom prst="roundRect">
            <a:avLst>
              <a:gd name="adj" fmla="val 159593"/>
            </a:avLst>
          </a:prstGeom>
          <a:solidFill>
            <a:srgbClr val="A2B9F9"/>
          </a:solidFill>
          <a:ln/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17790" y="231744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Tính bảo trì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19515" y="2621942"/>
            <a:ext cx="3751584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Mã nguồn phân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tách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route, model, template; CSDL quan hệ rõ ràng.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41590" y="3543374"/>
            <a:ext cx="3934271" cy="1070297"/>
          </a:xfrm>
          <a:prstGeom prst="roundRect">
            <a:avLst>
              <a:gd name="adj" fmla="val 854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22540" y="3543374"/>
            <a:ext cx="76200" cy="1070297"/>
          </a:xfrm>
          <a:prstGeom prst="roundRect">
            <a:avLst>
              <a:gd name="adj" fmla="val 159593"/>
            </a:avLst>
          </a:prstGeom>
          <a:solidFill>
            <a:srgbClr val="A2B9F9"/>
          </a:solidFill>
          <a:ln/>
        </p:spPr>
        <p:txBody>
          <a:bodyPr anchor="t"/>
          <a:lstStyle/>
          <a:p>
            <a:endParaRPr lang="vi-V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17790" y="351327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Tương thích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6183" y="3823017"/>
            <a:ext cx="371824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Hoạt động trên trình duyệt phổ biến; có thể triển khai trên server thật.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402" y="27541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Công nghệ &amp; Kiến trúc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66" y="1888573"/>
            <a:ext cx="3053135" cy="18318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27939" y="10357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Frontend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727939" y="26409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Backend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727938" y="3277722"/>
            <a:ext cx="5121695" cy="921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just"/>
            <a:r>
              <a:rPr lang="vi-VN" b="1" dirty="0">
                <a:latin typeface="+mj-lt"/>
              </a:rPr>
              <a:t>Backend:</a:t>
            </a:r>
            <a:r>
              <a:rPr lang="vi-VN" dirty="0">
                <a:latin typeface="+mj-lt"/>
              </a:rPr>
              <a:t> Node.js &amp; Express.js (MVC) cùng các thư viện </a:t>
            </a:r>
            <a:endParaRPr lang="en-US" dirty="0">
              <a:latin typeface="+mj-lt"/>
            </a:endParaRPr>
          </a:p>
          <a:p>
            <a:pPr algn="just"/>
            <a:r>
              <a:rPr lang="vi-VN" dirty="0">
                <a:latin typeface="+mj-lt"/>
              </a:rPr>
              <a:t>Sequelize (ORM), bcryptjs (Mã hóa), multer (Upload file) </a:t>
            </a:r>
            <a:endParaRPr lang="en-US" dirty="0">
              <a:latin typeface="+mj-lt"/>
            </a:endParaRPr>
          </a:p>
          <a:p>
            <a:pPr algn="just"/>
            <a:r>
              <a:rPr lang="vi-VN" dirty="0">
                <a:latin typeface="+mj-lt"/>
              </a:rPr>
              <a:t>và nodemailer (Email OTP).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27939" y="3834705"/>
            <a:ext cx="196296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Cơ sở dữ liệu &amp; Triển khai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727938" y="4322335"/>
            <a:ext cx="50080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vi-VN" b="1" dirty="0">
                <a:latin typeface="+mj-lt"/>
              </a:rPr>
              <a:t>Hệ quản trị CSDL:</a:t>
            </a:r>
            <a:r>
              <a:rPr lang="vi-VN" dirty="0">
                <a:latin typeface="+mj-lt"/>
              </a:rPr>
              <a:t> Trực tiếp sử dụng MySQL </a:t>
            </a:r>
            <a:r>
              <a:rPr lang="en-US" dirty="0">
                <a:latin typeface="+mj-lt"/>
              </a:rPr>
              <a:t>Workbench </a:t>
            </a:r>
            <a:r>
              <a:rPr lang="vi-VN" dirty="0">
                <a:latin typeface="+mj-lt"/>
              </a:rPr>
              <a:t>(định dạng mã hóa utf8mb4) với tên database là ntdvhome_db.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E538D69-90BD-3FC6-BE2A-69B9EE7B7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955" y="1331032"/>
            <a:ext cx="50810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Sử dụng HTML5, CSS3, Vanilla JavaScript (hoặc React/Vue) để xây dựng giao diện ứng dụng.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Giao tiếp bất đồng bộ ngầm định bằng Fetch API / AJAX.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03"/>
            <a:ext cx="4331456" cy="885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Phân tích hệ </a:t>
            </a:r>
            <a:r>
              <a:rPr lang="en-US" sz="3200" dirty="0" err="1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en-US" sz="32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(Use Case &amp; DB)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1" y="2903"/>
            <a:ext cx="3790950" cy="5140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770" y="116368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Actors chính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6244" y="1549535"/>
            <a:ext cx="4331456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Admin — quản trị hệ thống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Provider — thợ/nhà cung cấp dịch vụ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Người dùng/Khách hàng — đặt dịch vụ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7507" y="251699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Use cases tiêu biểu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6244" y="2918222"/>
            <a:ext cx="4331456" cy="121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Đăng ký/Đăng nhập; Xem dịch vụ; Đặt lịch; Theo dõi đơn; Nhận đơn; Cập nhật trạng thái; Quản lý ví; Quản trị dịch vụ &amp; đánh giá.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076" y="0"/>
            <a:ext cx="442347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Luồng nghiệp vụ &amp; Kiểm thử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64" y="705309"/>
            <a:ext cx="7890644" cy="23236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06430" y="2255986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Complete &amp; rate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5426099" y="234248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In progress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3921473" y="222851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Provider accepts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2299706" y="222851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Submit booking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927740" y="234315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Select service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40664" y="322064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Mô tả kịch bản chính: khách chọn dịch vụ → gửi booking → lưu pending → thợ nhận (accepted) →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in_progress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→ completed → khách đánh giá.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Kiểm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thử bao gồm: đăng ký, đăng nhập, đặt lịch, nhận đơn, hoàn thành, đánh giá, ví.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794" y="15820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Triển khai &amp; Demo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81831" y="8222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Quy trình triển khai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48667" y="1102593"/>
            <a:ext cx="7447694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Chuẩn bị server, cài Python, MySQL,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Tạo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DB ntdvhome_db, import DB.txt; thiết lập biến môi trường.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Chạy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app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81831" y="27409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Chuẩn bị demo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48667" y="3209851"/>
            <a:ext cx="644388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Thực hiện: đăng ký/đăng nhập, đặt lịch, thợ nhận và hoàn thành, khách đánh giá, admin kiểm tra bảng Bookings/Reviews trong MySQL.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0"/>
            <a:ext cx="3314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8382" y="112290"/>
            <a:ext cx="38272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Kết luận &amp; Hướng phát triển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9021" y="673198"/>
            <a:ext cx="496119" cy="1015382"/>
          </a:xfrm>
          <a:prstGeom prst="roundRect">
            <a:avLst>
              <a:gd name="adj" fmla="val 36004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 anchor="ctr"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7115" y="671964"/>
            <a:ext cx="110162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Kết luận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74936" y="1154325"/>
            <a:ext cx="50400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Đề tài xây dựng thành công nền tảng web NTDVHOME đáp ứng nghiệp vụ cốt lõi: đặt dịch vụ, nhận đơn, quản trị và đánh giá.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9530" y="1836581"/>
            <a:ext cx="496119" cy="878979"/>
          </a:xfrm>
          <a:prstGeom prst="roundRect">
            <a:avLst>
              <a:gd name="adj" fmla="val 36004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 anchor="ctr"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1608" y="18880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Ưu điểm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9775" y="2199680"/>
            <a:ext cx="50400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Phù hợp thực tế, phân vai rõ ràng (khách hàng, thợ, admin), CSDL quan hệ rõ ràng, có ví mô phỏng.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5719" y="2849056"/>
            <a:ext cx="496119" cy="878979"/>
          </a:xfrm>
          <a:prstGeom prst="roundRect">
            <a:avLst>
              <a:gd name="adj" fmla="val 36004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 anchor="ctr"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8323" y="287732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Hạn chế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3200" y="3228543"/>
            <a:ext cx="50400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Thanh toán thật chưa tích hợp, chưa có app mobile, cần nâng cấp kiểm thử bảo mật và tải.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5719" y="3861531"/>
            <a:ext cx="496119" cy="1169679"/>
          </a:xfrm>
          <a:prstGeom prst="roundRect">
            <a:avLst>
              <a:gd name="adj" fmla="val 36004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 anchor="ctr"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86569" y="386153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Hướng phát triển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61299" y="4136529"/>
            <a:ext cx="5189525" cy="82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Tích hợp thanh toán (VietQR/MoMo), thông báo realtime, app mobile, bản đồ gợi ý thợ, triển khai cloud chính thức với HTTPS và sao lưu định kỳ.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B1981535-B5AA-4E0C-ACE5-925CC19B2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97D060-AA7E-4411-BA62-28BD1EBD5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 thank you card with purple flowers&#10;&#10;AI-generated content may be incorrect.">
            <a:extLst>
              <a:ext uri="{FF2B5EF4-FFF2-40B4-BE49-F238E27FC236}">
                <a16:creationId xmlns:a16="http://schemas.microsoft.com/office/drawing/2014/main" id="{CCB1D62C-6176-92AC-DBFD-7EA1A989D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56" y="603249"/>
            <a:ext cx="7058137" cy="3711214"/>
          </a:xfrm>
          <a:prstGeom prst="roundRect">
            <a:avLst>
              <a:gd name="adj" fmla="val 5301"/>
            </a:avLst>
          </a:prstGeom>
          <a:ln w="1905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4484472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102</TotalTime>
  <Words>884</Words>
  <Application>Microsoft Office PowerPoint</Application>
  <PresentationFormat>On-screen Show (16:9)</PresentationFormat>
  <Paragraphs>94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Wingdings</vt:lpstr>
      <vt:lpstr>Tw Cen MT</vt:lpstr>
      <vt:lpstr>Arial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VƯƠNG QUỐC CƯỜNG</cp:lastModifiedBy>
  <cp:revision>3</cp:revision>
  <dcterms:created xsi:type="dcterms:W3CDTF">2026-05-05T08:34:08Z</dcterms:created>
  <dcterms:modified xsi:type="dcterms:W3CDTF">2026-05-05T10:25:46Z</dcterms:modified>
</cp:coreProperties>
</file>