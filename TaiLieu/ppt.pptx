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891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2" r:id="rId9"/>
    <p:sldId id="267" r:id="rId10"/>
    <p:sldId id="263" r:id="rId11"/>
    <p:sldId id="264" r:id="rId12"/>
    <p:sldId id="265" r:id="rId13"/>
    <p:sldId id="266" r:id="rId14"/>
  </p:sldIdLst>
  <p:sldSz cx="9144000" cy="5143500" type="screen16x9"/>
  <p:notesSz cx="5143500" cy="9144000"/>
  <p:embeddedFontLst>
    <p:embeddedFont>
      <p:font typeface="Tw Cen MT" panose="020B0602020104020603" pitchFamily="34" charset="0"/>
      <p:regular r:id="rId16"/>
      <p:bold r:id="rId17"/>
      <p:italic r:id="rId18"/>
      <p:boldItalic r:id="rId19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7274D"/>
    <a:srgbClr val="6D5A87"/>
    <a:srgbClr val="391F53"/>
    <a:srgbClr val="FAF7FC"/>
    <a:srgbClr val="FBF7FC"/>
    <a:srgbClr val="140D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510" autoAdjust="0"/>
  </p:normalViewPr>
  <p:slideViewPr>
    <p:cSldViewPr snapToGrid="0" snapToObjects="1">
      <p:cViewPr>
        <p:scale>
          <a:sx n="125" d="100"/>
          <a:sy n="125" d="100"/>
        </p:scale>
        <p:origin x="226" y="-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14798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975589"/>
            <a:ext cx="6517482" cy="1881910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2914651"/>
            <a:ext cx="6517482" cy="1028699"/>
          </a:xfrm>
        </p:spPr>
        <p:txBody>
          <a:bodyPr>
            <a:normAutofit/>
          </a:bodyPr>
          <a:lstStyle>
            <a:lvl1pPr marL="0" indent="0" algn="ctr">
              <a:buNone/>
              <a:defRPr sz="165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0667719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1775320"/>
            <a:ext cx="7772870" cy="25680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104292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621423"/>
            <a:ext cx="7763814" cy="2052614"/>
          </a:xfrm>
        </p:spPr>
        <p:txBody>
          <a:bodyPr anchor="b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2743093"/>
            <a:ext cx="7763814" cy="1026137"/>
          </a:xfrm>
        </p:spPr>
        <p:txBody>
          <a:bodyPr>
            <a:normAutofit/>
          </a:bodyPr>
          <a:lstStyle>
            <a:lvl1pPr marL="0" indent="0" algn="ctr">
              <a:buNone/>
              <a:defRPr sz="1500">
                <a:solidFill>
                  <a:schemeClr val="bg1">
                    <a:lumMod val="50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1837625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685330" y="1775320"/>
            <a:ext cx="3829520" cy="25680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4629150" y="1775320"/>
            <a:ext cx="3829050" cy="25680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0201880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9746" y="1778263"/>
            <a:ext cx="3655106" cy="509996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19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685331" y="2288260"/>
            <a:ext cx="3829520" cy="20551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97317" y="1778263"/>
            <a:ext cx="3661353" cy="509996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19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4629150" y="2288260"/>
            <a:ext cx="3829051" cy="20551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9156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9222378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4430939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2951766" cy="1517439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3808547" y="457201"/>
            <a:ext cx="4650122" cy="38861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1974639"/>
            <a:ext cx="2951767" cy="2368761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783534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4451227" cy="1517441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68602" y="457201"/>
            <a:ext cx="2441519" cy="38862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46" y="1974639"/>
            <a:ext cx="4451212" cy="2368760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678952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46" y="3217030"/>
            <a:ext cx="7773324" cy="608708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88558" y="523696"/>
            <a:ext cx="7366899" cy="2410602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831546"/>
            <a:ext cx="7773339" cy="511854"/>
          </a:xfrm>
        </p:spPr>
        <p:txBody>
          <a:bodyPr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304882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7773339" cy="2570434"/>
          </a:xfrm>
        </p:spPr>
        <p:txBody>
          <a:bodyPr anchor="ctr"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153616"/>
            <a:ext cx="7773339" cy="1189785"/>
          </a:xfrm>
        </p:spPr>
        <p:txBody>
          <a:bodyPr anchor="ctr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1064043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457200"/>
            <a:ext cx="6977064" cy="2244678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2707524"/>
            <a:ext cx="6564224" cy="446091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279597"/>
            <a:ext cx="7773339" cy="106579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751116" y="565625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18169" y="22451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000389334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331" y="1604041"/>
            <a:ext cx="7773339" cy="1883876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331" y="3496751"/>
            <a:ext cx="7773339" cy="855483"/>
          </a:xfrm>
        </p:spPr>
        <p:txBody>
          <a:bodyPr anchor="t"/>
          <a:lstStyle>
            <a:lvl1pPr marL="0" indent="0" algn="ctr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1511402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85331" y="457200"/>
            <a:ext cx="7773339" cy="12038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331" y="1775320"/>
            <a:ext cx="2474232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331" y="2207517"/>
            <a:ext cx="2474232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9292" y="1775320"/>
            <a:ext cx="246864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31012" y="2207517"/>
            <a:ext cx="2477513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1775320"/>
            <a:ext cx="2478696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979974" y="2207517"/>
            <a:ext cx="2478696" cy="2135884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9309112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5331" y="458079"/>
            <a:ext cx="7773339" cy="120294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5331" y="3153615"/>
            <a:ext cx="2472307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5331" y="1775320"/>
            <a:ext cx="2472307" cy="1143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5331" y="3585811"/>
            <a:ext cx="2472307" cy="75758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32069" y="3153615"/>
            <a:ext cx="247637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31011" y="1775320"/>
            <a:ext cx="2477514" cy="1143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31011" y="3585811"/>
            <a:ext cx="2477514" cy="757589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979974" y="3153615"/>
            <a:ext cx="2475511" cy="432197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165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979974" y="1775320"/>
            <a:ext cx="2478696" cy="1143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979880" y="3585809"/>
            <a:ext cx="2478790" cy="757591"/>
          </a:xfrm>
        </p:spPr>
        <p:txBody>
          <a:bodyPr anchor="t">
            <a:normAutofit/>
          </a:bodyPr>
          <a:lstStyle>
            <a:lvl1pPr marL="0" indent="0" algn="ctr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1139039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1775320"/>
            <a:ext cx="7773339" cy="25680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4034162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57201"/>
            <a:ext cx="1914995" cy="38861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685331" y="457201"/>
            <a:ext cx="5744043" cy="38861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6783483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9991737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976720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32188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97420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128444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32534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4726767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96626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86004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5946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9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9144002" cy="51435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332" y="463888"/>
            <a:ext cx="7773338" cy="1197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331" y="1775320"/>
            <a:ext cx="7773339" cy="25680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59053" y="4412457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5/7/2026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331" y="4412457"/>
            <a:ext cx="500466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09" y="4412457"/>
            <a:ext cx="573161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8389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4" r:id="rId3"/>
    <p:sldLayoutId id="2147483895" r:id="rId4"/>
    <p:sldLayoutId id="2147483896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  <p:sldLayoutId id="2147483904" r:id="rId13"/>
    <p:sldLayoutId id="2147483905" r:id="rId14"/>
    <p:sldLayoutId id="2147483906" r:id="rId15"/>
    <p:sldLayoutId id="2147483907" r:id="rId16"/>
    <p:sldLayoutId id="2147483908" r:id="rId17"/>
    <p:sldLayoutId id="2147483909" r:id="rId18"/>
    <p:sldLayoutId id="2147483910" r:id="rId19"/>
    <p:sldLayoutId id="2147483911" r:id="rId20"/>
    <p:sldLayoutId id="2147483912" r:id="rId21"/>
    <p:sldLayoutId id="2147483913" r:id="rId22"/>
    <p:sldLayoutId id="2147483914" r:id="rId23"/>
    <p:sldLayoutId id="2147483915" r:id="rId24"/>
    <p:sldLayoutId id="2147483916" r:id="rId25"/>
    <p:sldLayoutId id="2147483917" r:id="rId26"/>
    <p:sldLayoutId id="2147483918" r:id="rId27"/>
  </p:sldLayoutIdLst>
  <p:hf sldNum="0" hdr="0" ftr="0" dt="0"/>
  <p:txStyles>
    <p:titleStyle>
      <a:lvl1pPr algn="ctr" defTabSz="685800" rtl="0" eaLnBrk="1" latinLnBrk="0" hangingPunct="1">
        <a:lnSpc>
          <a:spcPct val="90000"/>
        </a:lnSpc>
        <a:spcBef>
          <a:spcPct val="0"/>
        </a:spcBef>
        <a:buNone/>
        <a:defRPr sz="27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120000"/>
        </a:lnSpc>
        <a:spcBef>
          <a:spcPts val="750"/>
        </a:spcBef>
        <a:buClr>
          <a:schemeClr val="tx1"/>
        </a:buClr>
        <a:buFont typeface="Arial" panose="020B0604020202020204" pitchFamily="34" charset="0"/>
        <a:buChar char="•"/>
        <a:defRPr sz="15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3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2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120000"/>
        </a:lnSpc>
        <a:spcBef>
          <a:spcPts val="375"/>
        </a:spcBef>
        <a:buClr>
          <a:schemeClr val="tx1"/>
        </a:buClr>
        <a:buFont typeface="Arial" panose="020B0604020202020204" pitchFamily="34" charset="0"/>
        <a:buChar char="•"/>
        <a:defRPr sz="105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15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>
            <a:extLst>
              <a:ext uri="{FF2B5EF4-FFF2-40B4-BE49-F238E27FC236}">
                <a16:creationId xmlns:a16="http://schemas.microsoft.com/office/drawing/2014/main" id="{06403CAC-6103-44C9-B687-A2C18173F2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2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7669E88-AA72-437F-AA99-859F9E99E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B40FCD49-2060-48B9-8212-8A5F1DF472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5">
            <a:alphaModFix amt="35000"/>
          </a:blip>
          <a:srcRect t="26443" b="36010"/>
          <a:stretch>
            <a:fillRect/>
          </a:stretch>
        </p:blipFill>
        <p:spPr>
          <a:xfrm>
            <a:off x="-4" y="10"/>
            <a:ext cx="9143980" cy="514349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3A45DCD-B5FB-4A86-88D2-91088C7FFC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13259" y="123884"/>
            <a:ext cx="6517482" cy="18819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 defTabSz="914400">
              <a:spcBef>
                <a:spcPct val="0"/>
              </a:spcBef>
              <a:spcAft>
                <a:spcPts val="600"/>
              </a:spcAft>
            </a:pPr>
            <a:r>
              <a:rPr lang="en-US" sz="4100" cap="all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Ứng</a:t>
            </a:r>
            <a:r>
              <a:rPr lang="en-US" sz="4100" cap="all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</a:t>
            </a:r>
            <a:r>
              <a:rPr lang="en-US" sz="4100" cap="all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dụng</a:t>
            </a:r>
            <a:r>
              <a:rPr lang="en-US" sz="4100" cap="all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</a:t>
            </a:r>
            <a:r>
              <a:rPr lang="en-US" sz="4100" cap="all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đặt</a:t>
            </a:r>
            <a:r>
              <a:rPr lang="en-US" sz="4100" cap="all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</a:t>
            </a:r>
            <a:r>
              <a:rPr lang="en-US" sz="4100" cap="all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dịch</a:t>
            </a:r>
            <a:r>
              <a:rPr lang="en-US" sz="4100" cap="all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</a:t>
            </a:r>
            <a:r>
              <a:rPr lang="en-US" sz="4100" cap="all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vụ</a:t>
            </a:r>
            <a:r>
              <a:rPr lang="en-US" sz="4100" cap="all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</a:t>
            </a:r>
            <a:r>
              <a:rPr lang="en-US" sz="4100" cap="all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gia</a:t>
            </a:r>
            <a:r>
              <a:rPr lang="en-US" sz="4100" cap="all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</a:t>
            </a:r>
            <a:r>
              <a:rPr lang="en-US" sz="4100" cap="all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đình</a:t>
            </a:r>
            <a:r>
              <a:rPr lang="en-US" sz="4100" cap="all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 NTDVHOME</a:t>
            </a:r>
          </a:p>
        </p:txBody>
      </p:sp>
      <p:sp>
        <p:nvSpPr>
          <p:cNvPr id="4" name="Text 1"/>
          <p:cNvSpPr/>
          <p:nvPr/>
        </p:nvSpPr>
        <p:spPr>
          <a:xfrm>
            <a:off x="-2" y="3263742"/>
            <a:ext cx="8157096" cy="102869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defTabSz="9144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</a:pPr>
            <a:r>
              <a:rPr lang="en-US" sz="2000" cap="all" dirty="0">
                <a:solidFill>
                  <a:srgbClr val="92D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Sinh Viên </a:t>
            </a:r>
            <a:r>
              <a:rPr lang="en-US" sz="2000" cap="all" dirty="0" err="1">
                <a:solidFill>
                  <a:srgbClr val="92D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000" cap="all" dirty="0">
                <a:solidFill>
                  <a:srgbClr val="92D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cap="all" dirty="0" err="1">
                <a:solidFill>
                  <a:srgbClr val="92D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2000" cap="all" dirty="0">
                <a:solidFill>
                  <a:srgbClr val="92D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Chen </a:t>
            </a:r>
            <a:r>
              <a:rPr lang="en-US" sz="2000" cap="all" dirty="0" err="1">
                <a:solidFill>
                  <a:srgbClr val="92D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Woei</a:t>
            </a:r>
            <a:r>
              <a:rPr lang="en-US" sz="2000" cap="all" dirty="0">
                <a:solidFill>
                  <a:srgbClr val="92D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Haur</a:t>
            </a:r>
          </a:p>
          <a:p>
            <a:pPr defTabSz="9144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</a:pPr>
            <a:r>
              <a:rPr lang="en-US" sz="2000" cap="all" dirty="0">
                <a:solidFill>
                  <a:srgbClr val="92D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                              Vương Quốc Cường</a:t>
            </a:r>
          </a:p>
          <a:p>
            <a:pPr defTabSz="914400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</a:pPr>
            <a:r>
              <a:rPr lang="en-US" sz="2000" cap="all" dirty="0">
                <a:solidFill>
                  <a:srgbClr val="92D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	                              Bùi </a:t>
            </a:r>
            <a:r>
              <a:rPr lang="en-US" sz="2000" cap="all" dirty="0" err="1">
                <a:solidFill>
                  <a:srgbClr val="92D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Thị</a:t>
            </a:r>
            <a:r>
              <a:rPr lang="en-US" sz="2000" cap="all" dirty="0">
                <a:solidFill>
                  <a:srgbClr val="92D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cap="all" dirty="0" err="1">
                <a:solidFill>
                  <a:srgbClr val="92D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Như</a:t>
            </a:r>
            <a:r>
              <a:rPr lang="en-US" sz="2000" cap="all" dirty="0">
                <a:solidFill>
                  <a:srgbClr val="92D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Thảo </a:t>
            </a:r>
          </a:p>
        </p:txBody>
      </p:sp>
      <p:sp>
        <p:nvSpPr>
          <p:cNvPr id="5" name="Text 2"/>
          <p:cNvSpPr/>
          <p:nvPr/>
        </p:nvSpPr>
        <p:spPr>
          <a:xfrm>
            <a:off x="-28" y="2129668"/>
            <a:ext cx="6955715" cy="13081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750"/>
              </a:lnSpc>
              <a:spcAft>
                <a:spcPts val="600"/>
              </a:spcAft>
              <a:buNone/>
            </a:pPr>
            <a:r>
              <a:rPr lang="en-US" sz="2800" dirty="0">
                <a:solidFill>
                  <a:schemeClr val="accent1">
                    <a:lumMod val="40000"/>
                    <a:lumOff val="60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 Người hướng dẫn: ThS. Nguyễn Thanh Sơn</a:t>
            </a:r>
            <a:endParaRPr lang="en-US" sz="2800" dirty="0">
              <a:solidFill>
                <a:schemeClr val="accent1">
                  <a:lumMod val="40000"/>
                  <a:lumOff val="6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1319" y="531241"/>
            <a:ext cx="35441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00" dirty="0">
                <a:solidFill>
                  <a:srgbClr val="3F6FF3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Ý tưởng &amp; Bài toán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319" y="1424285"/>
            <a:ext cx="5177582" cy="310648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32250" y="108688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3F6FF3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Tổng quan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5620827" y="1694935"/>
            <a:ext cx="3320431" cy="8882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000" dirty="0">
                <a:solidFill>
                  <a:srgbClr val="666666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Chuyển đổi số tăng nhu cầu dịch vụ gia đình nhưng đặt theo cách truyền thống: gọi/nhắn tin - chậm, thiếu minh bạch và khó theo dõi.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5620827" y="3187381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3F6FF3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Mục tiêu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5632250" y="3784001"/>
            <a:ext cx="332043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sz="2000" dirty="0">
                <a:solidFill>
                  <a:srgbClr val="666666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NTDVHOME là nền tảng web kết nối khách hàng và thợ: xem dịch vụ, đặt lịch, theo dõi, trao </a:t>
            </a:r>
            <a:r>
              <a:rPr lang="en-US" sz="2000" dirty="0" err="1">
                <a:solidFill>
                  <a:srgbClr val="666666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đổi,đánh</a:t>
            </a:r>
            <a:r>
              <a:rPr lang="en-US" sz="2000" dirty="0">
                <a:solidFill>
                  <a:srgbClr val="666666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 giá và quản lý ví/thống kê cho thợ và admin.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74241"/>
            <a:ext cx="451432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00" dirty="0">
                <a:solidFill>
                  <a:srgbClr val="3F6FF3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Vấn đề thực tế cần giải quyết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96119" y="1810941"/>
            <a:ext cx="2622724" cy="1053182"/>
          </a:xfrm>
          <a:prstGeom prst="roundRect">
            <a:avLst>
              <a:gd name="adj" fmla="val 12115"/>
            </a:avLst>
          </a:prstGeom>
          <a:solidFill>
            <a:srgbClr val="CFDBFC"/>
          </a:solidFill>
          <a:ln w="4763">
            <a:solidFill>
              <a:srgbClr val="B5C1E2"/>
            </a:solidFill>
            <a:prstDash val="solid"/>
          </a:ln>
          <a:effectLst>
            <a:outerShdw dist="17780" dir="2700000" algn="bl" rotWithShape="0">
              <a:srgbClr val="B5C1E2">
                <a:alpha val="100000"/>
              </a:srgbClr>
            </a:outerShdw>
          </a:effectLst>
        </p:spPr>
        <p:txBody>
          <a:bodyPr anchor="ctr"/>
          <a:lstStyle/>
          <a:p>
            <a:endParaRPr lang="vi-V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675828" y="1902310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Khó tìm thợ phù hợp</a:t>
            </a:r>
            <a:endParaRPr lang="en-US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642640" y="2263973"/>
            <a:ext cx="2329681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Thiếu thông tin uy tín và giá minh bạch.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3260601" y="1810941"/>
            <a:ext cx="2622724" cy="1053182"/>
          </a:xfrm>
          <a:prstGeom prst="roundRect">
            <a:avLst>
              <a:gd name="adj" fmla="val 12115"/>
            </a:avLst>
          </a:prstGeom>
          <a:solidFill>
            <a:srgbClr val="CFDBFC"/>
          </a:solidFill>
          <a:ln w="4763">
            <a:solidFill>
              <a:srgbClr val="B5C1E2"/>
            </a:solidFill>
            <a:prstDash val="solid"/>
          </a:ln>
          <a:effectLst>
            <a:outerShdw dist="17780" dir="2700000" algn="bl" rotWithShape="0">
              <a:srgbClr val="B5C1E2">
                <a:alpha val="100000"/>
              </a:srgbClr>
            </a:outerShdw>
          </a:effectLst>
        </p:spPr>
        <p:txBody>
          <a:bodyPr anchor="ctr"/>
          <a:lstStyle/>
          <a:p>
            <a:endParaRPr lang="vi-V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3359162" y="1894338"/>
            <a:ext cx="191750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Điều phối &amp; thu nhập thợ</a:t>
            </a:r>
            <a:endParaRPr lang="en-US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407122" y="2263973"/>
            <a:ext cx="2329681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Khó quản lý lịch, trạng thái đơn và thu nhập.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025083" y="1810941"/>
            <a:ext cx="2622724" cy="1053182"/>
          </a:xfrm>
          <a:prstGeom prst="roundRect">
            <a:avLst>
              <a:gd name="adj" fmla="val 12115"/>
            </a:avLst>
          </a:prstGeom>
          <a:solidFill>
            <a:srgbClr val="CFDBFC"/>
          </a:solidFill>
          <a:ln w="4763">
            <a:solidFill>
              <a:srgbClr val="B5C1E2"/>
            </a:solidFill>
            <a:prstDash val="solid"/>
          </a:ln>
          <a:effectLst>
            <a:outerShdw dist="17780" dir="2700000" algn="bl" rotWithShape="0">
              <a:srgbClr val="B5C1E2">
                <a:alpha val="100000"/>
              </a:srgbClr>
            </a:outerShdw>
          </a:effectLst>
        </p:spPr>
        <p:txBody>
          <a:bodyPr anchor="ctr"/>
          <a:lstStyle/>
          <a:p>
            <a:endParaRPr lang="vi-V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171605" y="1894338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Lỗi trong đặt lịch</a:t>
            </a:r>
            <a:endParaRPr lang="en-US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171605" y="2263973"/>
            <a:ext cx="247620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Nhập sai địa chỉ, thời gian, yêu cầu do thủ công.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96119" y="3005882"/>
            <a:ext cx="4004965" cy="1053182"/>
          </a:xfrm>
          <a:prstGeom prst="roundRect">
            <a:avLst>
              <a:gd name="adj" fmla="val 12115"/>
            </a:avLst>
          </a:prstGeom>
          <a:solidFill>
            <a:srgbClr val="CFDBFC"/>
          </a:solidFill>
          <a:ln w="4763">
            <a:solidFill>
              <a:srgbClr val="B5C1E2"/>
            </a:solidFill>
            <a:prstDash val="solid"/>
          </a:ln>
          <a:effectLst>
            <a:outerShdw dist="17780" dir="2700000" algn="bl" rotWithShape="0">
              <a:srgbClr val="B5C1E2">
                <a:alpha val="100000"/>
              </a:srgbClr>
            </a:outerShdw>
          </a:effectLst>
        </p:spPr>
        <p:txBody>
          <a:bodyPr anchor="ctr"/>
          <a:lstStyle/>
          <a:p>
            <a:endParaRPr lang="vi-V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2640" y="3090936"/>
            <a:ext cx="200077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Thiếu đánh giá minh bạch</a:t>
            </a:r>
            <a:endParaRPr lang="en-US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42640" y="3458914"/>
            <a:ext cx="3853680" cy="4536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Không có kênh phản hồi rõ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ràng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để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đo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en-US" dirty="0" err="1">
                <a:solidFill>
                  <a:srgbClr val="000000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chất</a:t>
            </a: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 lượng.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642842" y="3005882"/>
            <a:ext cx="4004965" cy="1053182"/>
          </a:xfrm>
          <a:prstGeom prst="roundRect">
            <a:avLst>
              <a:gd name="adj" fmla="val 12115"/>
            </a:avLst>
          </a:prstGeom>
          <a:solidFill>
            <a:srgbClr val="CFDBFC"/>
          </a:solidFill>
          <a:ln w="4763">
            <a:solidFill>
              <a:srgbClr val="B5C1E2"/>
            </a:solidFill>
            <a:prstDash val="solid"/>
          </a:ln>
          <a:effectLst>
            <a:outerShdw dist="17780" dir="2700000" algn="bl" rotWithShape="0">
              <a:srgbClr val="B5C1E2">
                <a:alpha val="100000"/>
              </a:srgbClr>
            </a:outerShdw>
          </a:effectLst>
        </p:spPr>
        <p:txBody>
          <a:bodyPr anchor="ctr"/>
          <a:lstStyle/>
          <a:p>
            <a:endParaRPr lang="vi-V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789363" y="3090936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chemeClr val="accent6">
                    <a:lumMod val="50000"/>
                  </a:schemeClr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Quản trị phân tán</a:t>
            </a:r>
            <a:endParaRPr lang="en-US" b="1" dirty="0">
              <a:solidFill>
                <a:schemeClr val="accent6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789363" y="3458914"/>
            <a:ext cx="371192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000000"/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Admin cần hệ thống tập trung để theo dõi người dùng, đơn và tài chính.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72989" y="266800"/>
            <a:ext cx="3815655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4000" dirty="0">
                <a:solidFill>
                  <a:srgbClr val="3F6FF3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Yêu cầu chức năng chính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838" y="1557200"/>
            <a:ext cx="753740" cy="9421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2841" y="1471926"/>
            <a:ext cx="1668214" cy="4200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Khách hàng</a:t>
            </a:r>
            <a:endParaRPr lang="en-US" sz="24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1002841" y="1891940"/>
            <a:ext cx="1828948" cy="1891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Đăng ký/đăng nhập, xem dịch vụ, đặt lịch, theo dõi đơn và đánh giá sau khi hoàn thành.</a:t>
            </a:r>
            <a:endParaRPr lang="en-US" sz="2000" dirty="0">
              <a:solidFill>
                <a:schemeClr val="tx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9291" y="1557200"/>
            <a:ext cx="753740" cy="942156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160211" y="1456083"/>
            <a:ext cx="1668214" cy="4200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Thợ / Provider</a:t>
            </a:r>
            <a:endParaRPr lang="en-US" sz="24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4"/>
          <p:cNvSpPr/>
          <p:nvPr/>
        </p:nvSpPr>
        <p:spPr>
          <a:xfrm>
            <a:off x="4160211" y="1898984"/>
            <a:ext cx="1828948" cy="1758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Nhận đơn, cập nhật trạng thái, quản lý ví, xem đánh giá và thông tin thu nhập.</a:t>
            </a:r>
            <a:endParaRPr lang="en-US" sz="2000" dirty="0">
              <a:solidFill>
                <a:schemeClr val="tx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5927" y="1557200"/>
            <a:ext cx="753740" cy="94215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107214" y="1471926"/>
            <a:ext cx="1668214" cy="4041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Admin</a:t>
            </a:r>
            <a:endParaRPr lang="en-US" sz="2400" b="1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6"/>
          <p:cNvSpPr/>
          <p:nvPr/>
        </p:nvSpPr>
        <p:spPr>
          <a:xfrm>
            <a:off x="7107214" y="1898984"/>
            <a:ext cx="1828948" cy="21264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Quản lý dịch vụ, người dùng/thợ, duyệt/khoá tài khoản, xử lý rút tiền và thống kê hệ thống.</a:t>
            </a:r>
            <a:endParaRPr lang="en-US" sz="2000" dirty="0">
              <a:solidFill>
                <a:schemeClr val="tx1">
                  <a:lumMod val="85000"/>
                  <a:lumOff val="1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3851" y="264877"/>
            <a:ext cx="3378026" cy="4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4000" dirty="0">
                <a:solidFill>
                  <a:srgbClr val="3F6FF3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Yêu cầu phi chức năng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72901" y="1145307"/>
            <a:ext cx="3934271" cy="859185"/>
          </a:xfrm>
          <a:prstGeom prst="roundRect">
            <a:avLst>
              <a:gd name="adj" fmla="val 10643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B5C1E2"/>
            </a:solidFill>
            <a:prstDash val="solid"/>
          </a:ln>
          <a:effectLst>
            <a:outerShdw dist="17780" dir="2700000" algn="bl" rotWithShape="0">
              <a:srgbClr val="B5C1E2">
                <a:alpha val="100000"/>
              </a:srgbClr>
            </a:outerShdw>
          </a:effectLst>
        </p:spPr>
        <p:txBody>
          <a:bodyPr anchor="t"/>
          <a:lstStyle/>
          <a:p>
            <a:pPr algn="just"/>
            <a:endParaRPr lang="vi-VN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3851" y="1145307"/>
            <a:ext cx="76200" cy="859185"/>
          </a:xfrm>
          <a:prstGeom prst="roundRect">
            <a:avLst>
              <a:gd name="adj" fmla="val 159593"/>
            </a:avLst>
          </a:prstGeom>
          <a:solidFill>
            <a:srgbClr val="A2B9F9"/>
          </a:solidFill>
          <a:ln/>
        </p:spPr>
        <p:txBody>
          <a:bodyPr anchor="t"/>
          <a:lstStyle/>
          <a:p>
            <a:pPr algn="just"/>
            <a:endParaRPr lang="vi-VN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49101" y="1114660"/>
            <a:ext cx="1688976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just">
              <a:buNone/>
            </a:pPr>
            <a:r>
              <a:rPr lang="en-US" sz="2000" dirty="0">
                <a:solidFill>
                  <a:srgbClr val="002060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Tính tiện dụng</a:t>
            </a:r>
            <a:endParaRPr lang="en-US" sz="20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49101" y="1383086"/>
            <a:ext cx="3628650" cy="60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just">
              <a:buNone/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Giao diện rõ ràng, dễ thao tác </a:t>
            </a:r>
            <a:r>
              <a:rPr lang="en-US" sz="20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cho</a:t>
            </a: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en-US" sz="20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người</a:t>
            </a: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 dùng phổ thông.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72901" y="2133228"/>
            <a:ext cx="3934271" cy="1070297"/>
          </a:xfrm>
          <a:prstGeom prst="roundRect">
            <a:avLst>
              <a:gd name="adj" fmla="val 8543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B5C1E2"/>
            </a:solidFill>
            <a:prstDash val="solid"/>
          </a:ln>
          <a:effectLst>
            <a:outerShdw dist="17780" dir="2700000" algn="bl" rotWithShape="0">
              <a:srgbClr val="B5C1E2">
                <a:alpha val="100000"/>
              </a:srgbClr>
            </a:outerShdw>
          </a:effectLst>
        </p:spPr>
        <p:txBody>
          <a:bodyPr anchor="t"/>
          <a:lstStyle/>
          <a:p>
            <a:pPr algn="just"/>
            <a:endParaRPr lang="vi-VN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3851" y="2133228"/>
            <a:ext cx="76200" cy="1070297"/>
          </a:xfrm>
          <a:prstGeom prst="roundRect">
            <a:avLst>
              <a:gd name="adj" fmla="val 159593"/>
            </a:avLst>
          </a:prstGeom>
          <a:solidFill>
            <a:srgbClr val="A2B9F9"/>
          </a:solidFill>
          <a:ln/>
        </p:spPr>
        <p:txBody>
          <a:bodyPr anchor="t"/>
          <a:lstStyle/>
          <a:p>
            <a:pPr algn="just"/>
            <a:endParaRPr lang="vi-VN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558985" y="2105208"/>
            <a:ext cx="1688976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just">
              <a:buNone/>
            </a:pPr>
            <a:r>
              <a:rPr lang="en-US" sz="2000" dirty="0">
                <a:solidFill>
                  <a:srgbClr val="002060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Tính hiệu quả</a:t>
            </a:r>
            <a:endParaRPr lang="en-US" sz="20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9101" y="2422328"/>
            <a:ext cx="3568898" cy="422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API phản hồi nhanh, thao tác đặt lịch và cập nhật trạng thái kịp thời.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72901" y="3332262"/>
            <a:ext cx="3934271" cy="1070297"/>
          </a:xfrm>
          <a:prstGeom prst="roundRect">
            <a:avLst>
              <a:gd name="adj" fmla="val 8543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B5C1E2"/>
            </a:solidFill>
            <a:prstDash val="solid"/>
          </a:ln>
          <a:effectLst>
            <a:outerShdw dist="17780" dir="2700000" algn="bl" rotWithShape="0">
              <a:srgbClr val="B5C1E2">
                <a:alpha val="100000"/>
              </a:srgbClr>
            </a:outerShdw>
          </a:effectLst>
        </p:spPr>
        <p:txBody>
          <a:bodyPr anchor="t"/>
          <a:lstStyle/>
          <a:p>
            <a:pPr algn="just"/>
            <a:endParaRPr lang="vi-VN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53851" y="3332262"/>
            <a:ext cx="76200" cy="1070297"/>
          </a:xfrm>
          <a:prstGeom prst="roundRect">
            <a:avLst>
              <a:gd name="adj" fmla="val 159593"/>
            </a:avLst>
          </a:prstGeom>
          <a:solidFill>
            <a:srgbClr val="A2B9F9"/>
          </a:solidFill>
          <a:ln/>
        </p:spPr>
        <p:txBody>
          <a:bodyPr anchor="t"/>
          <a:lstStyle/>
          <a:p>
            <a:pPr algn="just"/>
            <a:endParaRPr lang="vi-VN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30051" y="3309081"/>
            <a:ext cx="1688976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just">
              <a:buNone/>
            </a:pPr>
            <a:r>
              <a:rPr lang="en-US" sz="2000" dirty="0">
                <a:solidFill>
                  <a:srgbClr val="002060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Tính bảo mật</a:t>
            </a:r>
            <a:endParaRPr lang="en-US" sz="20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545805" y="3646243"/>
            <a:ext cx="3568898" cy="422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Mật khẩu băm bằng bcrypt, phân quyền rõ ràng giữa user/admin.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741590" y="1145307"/>
            <a:ext cx="3934271" cy="1070297"/>
          </a:xfrm>
          <a:prstGeom prst="roundRect">
            <a:avLst>
              <a:gd name="adj" fmla="val 8543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B5C1E2"/>
            </a:solidFill>
            <a:prstDash val="solid"/>
          </a:ln>
          <a:effectLst>
            <a:outerShdw dist="17780" dir="2700000" algn="bl" rotWithShape="0">
              <a:srgbClr val="B5C1E2">
                <a:alpha val="100000"/>
              </a:srgbClr>
            </a:outerShdw>
          </a:effectLst>
        </p:spPr>
        <p:txBody>
          <a:bodyPr anchor="t"/>
          <a:lstStyle/>
          <a:p>
            <a:pPr algn="just"/>
            <a:endParaRPr lang="vi-VN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722540" y="1145307"/>
            <a:ext cx="76200" cy="1070297"/>
          </a:xfrm>
          <a:prstGeom prst="roundRect">
            <a:avLst>
              <a:gd name="adj" fmla="val 159593"/>
            </a:avLst>
          </a:prstGeom>
          <a:solidFill>
            <a:srgbClr val="A2B9F9"/>
          </a:solidFill>
          <a:ln/>
        </p:spPr>
        <p:txBody>
          <a:bodyPr anchor="t"/>
          <a:lstStyle/>
          <a:p>
            <a:pPr algn="just"/>
            <a:endParaRPr lang="vi-VN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4817790" y="1129344"/>
            <a:ext cx="1688976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just">
              <a:buNone/>
            </a:pPr>
            <a:r>
              <a:rPr lang="en-US" sz="2000" dirty="0">
                <a:solidFill>
                  <a:srgbClr val="002060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Tính mở rộng</a:t>
            </a:r>
            <a:endParaRPr lang="en-US" sz="20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867881" y="1431655"/>
            <a:ext cx="3568898" cy="422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Dễ thêm dịch vụ, tích hợp thanh toán hoặc thông báo realtime.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741590" y="2344341"/>
            <a:ext cx="3934271" cy="1070297"/>
          </a:xfrm>
          <a:prstGeom prst="roundRect">
            <a:avLst>
              <a:gd name="adj" fmla="val 8543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B5C1E2"/>
            </a:solidFill>
            <a:prstDash val="solid"/>
          </a:ln>
          <a:effectLst>
            <a:outerShdw dist="17780" dir="2700000" algn="bl" rotWithShape="0">
              <a:srgbClr val="B5C1E2">
                <a:alpha val="100000"/>
              </a:srgbClr>
            </a:outerShdw>
          </a:effectLst>
        </p:spPr>
        <p:txBody>
          <a:bodyPr anchor="t"/>
          <a:lstStyle/>
          <a:p>
            <a:pPr algn="just"/>
            <a:endParaRPr lang="vi-VN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722540" y="2344341"/>
            <a:ext cx="76200" cy="1070297"/>
          </a:xfrm>
          <a:prstGeom prst="roundRect">
            <a:avLst>
              <a:gd name="adj" fmla="val 159593"/>
            </a:avLst>
          </a:prstGeom>
          <a:solidFill>
            <a:srgbClr val="A2B9F9"/>
          </a:solidFill>
          <a:ln/>
        </p:spPr>
        <p:txBody>
          <a:bodyPr anchor="t"/>
          <a:lstStyle/>
          <a:p>
            <a:pPr algn="just"/>
            <a:endParaRPr lang="vi-VN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817790" y="2317442"/>
            <a:ext cx="1688976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just">
              <a:buNone/>
            </a:pPr>
            <a:r>
              <a:rPr lang="en-US" sz="2000" dirty="0">
                <a:solidFill>
                  <a:srgbClr val="002060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Tính bảo trì</a:t>
            </a:r>
            <a:endParaRPr lang="en-US" sz="20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867881" y="2621942"/>
            <a:ext cx="3751584" cy="6692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Mã nguồn phân </a:t>
            </a:r>
            <a:r>
              <a:rPr lang="en-US" sz="20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tách</a:t>
            </a: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 route, model, template; CSDL quan hệ rõ ràng.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741590" y="3543374"/>
            <a:ext cx="3934271" cy="1070297"/>
          </a:xfrm>
          <a:prstGeom prst="roundRect">
            <a:avLst>
              <a:gd name="adj" fmla="val 8543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B5C1E2"/>
            </a:solidFill>
            <a:prstDash val="solid"/>
          </a:ln>
          <a:effectLst>
            <a:outerShdw dist="17780" dir="2700000" algn="bl" rotWithShape="0">
              <a:srgbClr val="B5C1E2">
                <a:alpha val="100000"/>
              </a:srgbClr>
            </a:outerShdw>
          </a:effectLst>
        </p:spPr>
        <p:txBody>
          <a:bodyPr anchor="t"/>
          <a:lstStyle/>
          <a:p>
            <a:pPr algn="just"/>
            <a:endParaRPr lang="vi-VN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722540" y="3543374"/>
            <a:ext cx="76200" cy="1070297"/>
          </a:xfrm>
          <a:prstGeom prst="roundRect">
            <a:avLst>
              <a:gd name="adj" fmla="val 159593"/>
            </a:avLst>
          </a:prstGeom>
          <a:solidFill>
            <a:srgbClr val="A2B9F9"/>
          </a:solidFill>
          <a:ln/>
        </p:spPr>
        <p:txBody>
          <a:bodyPr anchor="t"/>
          <a:lstStyle/>
          <a:p>
            <a:pPr algn="just"/>
            <a:endParaRPr lang="vi-VN"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4817790" y="3513271"/>
            <a:ext cx="1688976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just">
              <a:buNone/>
            </a:pPr>
            <a:r>
              <a:rPr lang="en-US" sz="2000" dirty="0">
                <a:solidFill>
                  <a:srgbClr val="002060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Tương thích</a:t>
            </a:r>
            <a:endParaRPr lang="en-US" sz="2000" dirty="0">
              <a:solidFill>
                <a:srgbClr val="00206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4867881" y="3823017"/>
            <a:ext cx="3718248" cy="422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just">
              <a:buNone/>
            </a:pP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Hoạt động trên trình duyệt phổ biến; có thể triển khai trên server thật.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5402" y="275410"/>
            <a:ext cx="35441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00" dirty="0">
                <a:solidFill>
                  <a:srgbClr val="3F6FF3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Công nghệ &amp; Kiến trúc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366" y="1888573"/>
            <a:ext cx="3053135" cy="183185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727939" y="1035700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3F6FF3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Frontend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3727939" y="2560454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3F6FF3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Backend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3727940" y="2956489"/>
            <a:ext cx="5121694" cy="64549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just"/>
            <a:r>
              <a:rPr lang="vi-VN" b="1" dirty="0">
                <a:latin typeface="+mj-lt"/>
              </a:rPr>
              <a:t>Backend:</a:t>
            </a:r>
            <a:r>
              <a:rPr lang="vi-VN" dirty="0">
                <a:latin typeface="+mj-lt"/>
              </a:rPr>
              <a:t> Python &amp; Flask cùng các thư viện </a:t>
            </a:r>
            <a:endParaRPr lang="en-US" dirty="0">
              <a:latin typeface="+mj-lt"/>
            </a:endParaRPr>
          </a:p>
          <a:p>
            <a:pPr algn="just"/>
            <a:r>
              <a:rPr lang="vi-VN" dirty="0">
                <a:latin typeface="+mj-lt"/>
              </a:rPr>
              <a:t>Flask-SQLAlchemy (ORM), bcrypt (Mã hóa), </a:t>
            </a:r>
            <a:endParaRPr lang="en-US" dirty="0">
              <a:latin typeface="+mj-lt"/>
            </a:endParaRPr>
          </a:p>
          <a:p>
            <a:pPr algn="just"/>
            <a:r>
              <a:rPr lang="vi-VN" dirty="0">
                <a:latin typeface="+mj-lt"/>
              </a:rPr>
              <a:t>werkzeug (Upload file) và smtplib (Email OTP).</a:t>
            </a:r>
            <a:endParaRPr lang="en-US" dirty="0">
              <a:solidFill>
                <a:schemeClr val="tx1">
                  <a:lumMod val="95000"/>
                  <a:lumOff val="5000"/>
                </a:schemeClr>
              </a:solidFill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3727939" y="3834705"/>
            <a:ext cx="196296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3F6FF3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Cơ sở dữ liệu &amp; Triển khai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3727938" y="4322335"/>
            <a:ext cx="5008098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vi-VN" b="1" dirty="0">
                <a:latin typeface="+mj-lt"/>
              </a:rPr>
              <a:t>Hệ quản trị CSDL:</a:t>
            </a:r>
            <a:r>
              <a:rPr lang="vi-VN" dirty="0">
                <a:latin typeface="+mj-lt"/>
              </a:rPr>
              <a:t> Trực tiếp sử dụng MySQL </a:t>
            </a:r>
            <a:r>
              <a:rPr lang="en-US" dirty="0">
                <a:latin typeface="+mj-lt"/>
              </a:rPr>
              <a:t>Workbench </a:t>
            </a:r>
            <a:r>
              <a:rPr lang="vi-VN" dirty="0">
                <a:latin typeface="+mj-lt"/>
              </a:rPr>
              <a:t>(định dạng mã hóa utf8mb4) với tên database là ntdvhome_db.</a:t>
            </a:r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  <a:latin typeface="+mj-lt"/>
              <a:cs typeface="Times New Roman" panose="02020603050405020304" pitchFamily="18" charset="0"/>
            </a:endParaRPr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8E538D69-90BD-3FC6-BE2A-69B9EE7B73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54954" y="1348863"/>
            <a:ext cx="5081082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Sử dụng HTML, CSS, Vanilla JavaScript</a:t>
            </a:r>
            <a:r>
              <a:rPr kumimoji="0" lang="en-US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để xây dựng giao diện ứng dụng.</a:t>
            </a:r>
          </a:p>
          <a:p>
            <a:pPr marL="285750" marR="0" lvl="0" indent="-28575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Giao tiếp bất đồng bộ ngầm định bằng Fetch API / AJAX.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EADFD4-C466-12A1-E406-D0F04532A1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150" y="0"/>
            <a:ext cx="771525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4062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903"/>
            <a:ext cx="4331456" cy="8856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3200" dirty="0">
                <a:solidFill>
                  <a:srgbClr val="3F6FF3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Phân tích hệ </a:t>
            </a:r>
            <a:r>
              <a:rPr lang="en-US" sz="3200" dirty="0" err="1">
                <a:solidFill>
                  <a:srgbClr val="3F6FF3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thống</a:t>
            </a:r>
            <a:r>
              <a:rPr lang="en-US" sz="3200" dirty="0">
                <a:solidFill>
                  <a:srgbClr val="3F6FF3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 </a:t>
            </a:r>
          </a:p>
          <a:p>
            <a:pPr marL="0" indent="0" algn="ctr">
              <a:buNone/>
            </a:pPr>
            <a:r>
              <a:rPr lang="en-US" sz="3200" dirty="0">
                <a:solidFill>
                  <a:srgbClr val="3F6FF3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(Use Case &amp; DB)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3051" y="2903"/>
            <a:ext cx="3790950" cy="514059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19770" y="1163687"/>
            <a:ext cx="885974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Actors chính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126244" y="1549535"/>
            <a:ext cx="4331456" cy="2798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Admin — quản trị hệ thống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Provider — thợ/nhà cung cấp dịch vụ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Người dùng/Khách hàng — đặt dịch vụ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767507" y="2516992"/>
            <a:ext cx="885974" cy="110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n-US" sz="2400" dirty="0">
                <a:solidFill>
                  <a:schemeClr val="accent4">
                    <a:lumMod val="50000"/>
                  </a:schemeClr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Use cases tiêu biểu</a:t>
            </a:r>
            <a:endParaRPr lang="en-US" sz="2400" dirty="0">
              <a:solidFill>
                <a:schemeClr val="accent4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126244" y="2918222"/>
            <a:ext cx="4331456" cy="1215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Đăng ký/Đăng nhập; Xem dịch vụ; Đặt lịch; Theo dõi đơn; Nhận đơn; Cập nhật trạng thái; Quản lý ví; Quản trị dịch vụ &amp; đánh giá.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1AB3801-C818-A470-0C5A-2B49F6ADE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375" y="0"/>
            <a:ext cx="7715250" cy="51435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6C0226E0-060F-A7D6-9E81-26BC3D2ACD35}"/>
              </a:ext>
            </a:extLst>
          </p:cNvPr>
          <p:cNvSpPr/>
          <p:nvPr/>
        </p:nvSpPr>
        <p:spPr>
          <a:xfrm>
            <a:off x="3352800" y="3322320"/>
            <a:ext cx="658368" cy="195072"/>
          </a:xfrm>
          <a:prstGeom prst="rect">
            <a:avLst/>
          </a:prstGeom>
          <a:solidFill>
            <a:srgbClr val="FAF7FC"/>
          </a:solidFill>
          <a:ln>
            <a:solidFill>
              <a:srgbClr val="FBF7FC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600" b="1" dirty="0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Quản </a:t>
            </a:r>
            <a:r>
              <a:rPr lang="en-US" sz="600" b="1" dirty="0" err="1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600" b="1" dirty="0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b="1" dirty="0" err="1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thanh</a:t>
            </a:r>
            <a:r>
              <a:rPr lang="en-US" sz="600" b="1" dirty="0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b="1" dirty="0" err="1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600" b="1" dirty="0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600" b="1" dirty="0">
              <a:solidFill>
                <a:srgbClr val="37274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5D6D93-B15C-8C39-CA59-37ACC1CACA67}"/>
              </a:ext>
            </a:extLst>
          </p:cNvPr>
          <p:cNvSpPr/>
          <p:nvPr/>
        </p:nvSpPr>
        <p:spPr>
          <a:xfrm>
            <a:off x="3297936" y="3048000"/>
            <a:ext cx="780288" cy="195072"/>
          </a:xfrm>
          <a:prstGeom prst="rect">
            <a:avLst/>
          </a:prstGeom>
          <a:solidFill>
            <a:srgbClr val="FAF7FC"/>
          </a:solidFill>
          <a:ln>
            <a:solidFill>
              <a:srgbClr val="FBF7FC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600" b="1" dirty="0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Quản </a:t>
            </a:r>
            <a:r>
              <a:rPr lang="en-US" sz="600" b="1" dirty="0" err="1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lý</a:t>
            </a:r>
            <a:r>
              <a:rPr lang="en-US" sz="600" b="1" dirty="0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b="1" dirty="0" err="1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tài</a:t>
            </a:r>
            <a:r>
              <a:rPr lang="en-US" sz="600" b="1" dirty="0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b="1" dirty="0" err="1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khoản</a:t>
            </a:r>
            <a:r>
              <a:rPr lang="en-US" sz="600" b="1" dirty="0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&amp; </a:t>
            </a:r>
            <a:r>
              <a:rPr lang="en-US" sz="600" b="1" dirty="0" err="1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600" b="1" dirty="0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" b="1" dirty="0" err="1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quyền</a:t>
            </a:r>
            <a:r>
              <a:rPr lang="en-US" sz="600" b="1" dirty="0">
                <a:solidFill>
                  <a:srgbClr val="37274D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600" b="1" dirty="0">
              <a:solidFill>
                <a:srgbClr val="37274D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74599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B661DBD-D9E6-C50D-37C0-1AC567A41C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0"/>
            <a:ext cx="771525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1794" y="158204"/>
            <a:ext cx="35441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dirty="0">
                <a:solidFill>
                  <a:srgbClr val="3F6FF3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Triển khai &amp; Demo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 1"/>
          <p:cNvSpPr/>
          <p:nvPr/>
        </p:nvSpPr>
        <p:spPr>
          <a:xfrm>
            <a:off x="181831" y="822201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3F6FF3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Quy trình triển khai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348667" y="1102593"/>
            <a:ext cx="7447694" cy="14600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 algn="l">
              <a:buSzPct val="100000"/>
              <a:buChar char="•"/>
            </a:pPr>
            <a:r>
              <a:rPr lang="en-US" sz="20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Chuẩn bị server, cài Python, MySQL, </a:t>
            </a:r>
            <a:r>
              <a:rPr lang="en-US" sz="2000" dirty="0" err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Tạo</a:t>
            </a:r>
            <a:r>
              <a:rPr lang="en-US" sz="20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 DB ntdvhome_db, import DB.txt; thiết lập biến môi trường.</a:t>
            </a:r>
            <a:endParaRPr lang="en-US" sz="2000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l">
              <a:buSzPct val="100000"/>
              <a:buChar char="•"/>
            </a:pPr>
            <a:r>
              <a:rPr lang="en-US" sz="2000" dirty="0" err="1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Chạy</a:t>
            </a:r>
            <a:r>
              <a:rPr lang="en-US" sz="20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 app</a:t>
            </a:r>
            <a:endParaRPr lang="en-US" sz="2000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181831" y="2740968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70C0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Chuẩn bị demo</a:t>
            </a:r>
            <a:endParaRPr lang="en-US" sz="2400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348667" y="3209851"/>
            <a:ext cx="644388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Thực hiện: đăng ký/đăng nhập, đặt lịch, thợ nhận và hoàn thành, khách đánh giá, admin kiểm tra bảng Bookings/Reviews trong MySQL.</a:t>
            </a:r>
            <a:endParaRPr lang="en-US" sz="2000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0" y="0"/>
            <a:ext cx="33147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8382" y="112290"/>
            <a:ext cx="3827264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200" dirty="0">
                <a:solidFill>
                  <a:srgbClr val="3F6FF3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Kết luận &amp; Hướng phát triển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29021" y="673198"/>
            <a:ext cx="496119" cy="1015382"/>
          </a:xfrm>
          <a:prstGeom prst="roundRect">
            <a:avLst>
              <a:gd name="adj" fmla="val 360048"/>
            </a:avLst>
          </a:prstGeom>
          <a:solidFill>
            <a:srgbClr val="CFDBFC"/>
          </a:solidFill>
          <a:ln w="4763">
            <a:solidFill>
              <a:srgbClr val="B5C1E2"/>
            </a:solidFill>
            <a:prstDash val="solid"/>
          </a:ln>
          <a:effectLst>
            <a:outerShdw dist="15240" dir="2700000" algn="bl" rotWithShape="0">
              <a:srgbClr val="B5C1E2">
                <a:alpha val="100000"/>
              </a:srgbClr>
            </a:outerShdw>
          </a:effectLst>
        </p:spPr>
        <p:txBody>
          <a:bodyPr anchor="ctr"/>
          <a:lstStyle/>
          <a:p>
            <a:endParaRPr lang="vi-V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597115" y="671964"/>
            <a:ext cx="110162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0070C0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Kết luận</a:t>
            </a:r>
            <a:endParaRPr lang="en-US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674936" y="1154325"/>
            <a:ext cx="5040064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Đề tài xây dựng thành công nền tảng web NTDVHOME đáp ứng nghiệp vụ cốt lõi: đặt dịch vụ, nhận đơn, quản trị và đánh giá.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9530" y="1836581"/>
            <a:ext cx="496119" cy="878979"/>
          </a:xfrm>
          <a:prstGeom prst="roundRect">
            <a:avLst>
              <a:gd name="adj" fmla="val 360048"/>
            </a:avLst>
          </a:prstGeom>
          <a:solidFill>
            <a:srgbClr val="CFDBFC"/>
          </a:solidFill>
          <a:ln w="4763">
            <a:solidFill>
              <a:srgbClr val="B5C1E2"/>
            </a:solidFill>
            <a:prstDash val="solid"/>
          </a:ln>
          <a:effectLst>
            <a:outerShdw dist="15240" dir="2700000" algn="bl" rotWithShape="0">
              <a:srgbClr val="B5C1E2">
                <a:alpha val="100000"/>
              </a:srgbClr>
            </a:outerShdw>
          </a:effectLst>
        </p:spPr>
        <p:txBody>
          <a:bodyPr anchor="ctr"/>
          <a:lstStyle/>
          <a:p>
            <a:endParaRPr lang="vi-V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601608" y="1888027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0070C0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Ưu điểm</a:t>
            </a:r>
            <a:endParaRPr lang="en-US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639775" y="2199680"/>
            <a:ext cx="5040064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Phù hợp thực tế, phân vai rõ ràng (khách hàng, thợ, admin), CSDL quan hệ rõ ràng, có ví mô phỏng.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15719" y="2849056"/>
            <a:ext cx="496119" cy="878979"/>
          </a:xfrm>
          <a:prstGeom prst="roundRect">
            <a:avLst>
              <a:gd name="adj" fmla="val 360048"/>
            </a:avLst>
          </a:prstGeom>
          <a:solidFill>
            <a:srgbClr val="CFDBFC"/>
          </a:solidFill>
          <a:ln w="4763">
            <a:solidFill>
              <a:srgbClr val="B5C1E2"/>
            </a:solidFill>
            <a:prstDash val="solid"/>
          </a:ln>
          <a:effectLst>
            <a:outerShdw dist="15240" dir="2700000" algn="bl" rotWithShape="0">
              <a:srgbClr val="B5C1E2">
                <a:alpha val="100000"/>
              </a:srgbClr>
            </a:outerShdw>
          </a:effectLst>
        </p:spPr>
        <p:txBody>
          <a:bodyPr anchor="ctr"/>
          <a:lstStyle/>
          <a:p>
            <a:endParaRPr lang="vi-V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78323" y="2877322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0070C0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Hạn chế</a:t>
            </a:r>
            <a:endParaRPr lang="en-US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603200" y="3228543"/>
            <a:ext cx="5040063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Thanh toán thật chưa tích hợp, chưa có app mobile, cần nâng cấp kiểm thử bảo mật và tải.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15719" y="3861531"/>
            <a:ext cx="496119" cy="1169679"/>
          </a:xfrm>
          <a:prstGeom prst="roundRect">
            <a:avLst>
              <a:gd name="adj" fmla="val 360048"/>
            </a:avLst>
          </a:prstGeom>
          <a:solidFill>
            <a:srgbClr val="CFDBFC"/>
          </a:solidFill>
          <a:ln w="4763">
            <a:solidFill>
              <a:srgbClr val="B5C1E2"/>
            </a:solidFill>
            <a:prstDash val="solid"/>
          </a:ln>
          <a:effectLst>
            <a:outerShdw dist="15240" dir="2700000" algn="bl" rotWithShape="0">
              <a:srgbClr val="B5C1E2">
                <a:alpha val="100000"/>
              </a:srgbClr>
            </a:outerShdw>
          </a:effectLst>
        </p:spPr>
        <p:txBody>
          <a:bodyPr anchor="ctr"/>
          <a:lstStyle/>
          <a:p>
            <a:endParaRPr lang="vi-VN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586569" y="3861531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rgbClr val="0070C0"/>
                </a:solidFill>
                <a:latin typeface="Times New Roman" panose="02020603050405020304" pitchFamily="18" charset="0"/>
                <a:ea typeface="Outfit Medium" pitchFamily="34" charset="-122"/>
                <a:cs typeface="Times New Roman" panose="02020603050405020304" pitchFamily="18" charset="0"/>
              </a:rPr>
              <a:t>Hướng phát triển</a:t>
            </a:r>
            <a:endParaRPr lang="en-US" dirty="0">
              <a:solidFill>
                <a:srgbClr val="0070C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661299" y="4136529"/>
            <a:ext cx="5189525" cy="8271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dirty="0">
                <a:solidFill>
                  <a:schemeClr val="bg2">
                    <a:lumMod val="10000"/>
                  </a:schemeClr>
                </a:solidFill>
                <a:latin typeface="Times New Roman" panose="02020603050405020304" pitchFamily="18" charset="0"/>
                <a:ea typeface="IBM Plex Sans" pitchFamily="34" charset="-122"/>
                <a:cs typeface="Times New Roman" panose="02020603050405020304" pitchFamily="18" charset="0"/>
              </a:rPr>
              <a:t>Tích hợp thanh toán (VietQR/MoMo), thông báo realtime, app mobile, bản đồ gợi ý thợ, triển khai cloud chính thức với HTTPS và sao lưu định kỳ.</a:t>
            </a:r>
            <a:endParaRPr lang="en-US" dirty="0">
              <a:solidFill>
                <a:schemeClr val="bg2">
                  <a:lumMod val="1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>
            <a:extLst>
              <a:ext uri="{FF2B5EF4-FFF2-40B4-BE49-F238E27FC236}">
                <a16:creationId xmlns:a16="http://schemas.microsoft.com/office/drawing/2014/main" id="{B1981535-B5AA-4E0C-ACE5-925CC19B20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2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F97D060-AA7E-4411-BA62-28BD1EBD55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thank you card with purple flowers&#10;&#10;AI-generated content may be incorrect.">
            <a:extLst>
              <a:ext uri="{FF2B5EF4-FFF2-40B4-BE49-F238E27FC236}">
                <a16:creationId xmlns:a16="http://schemas.microsoft.com/office/drawing/2014/main" id="{CCB1D62C-6176-92AC-DBFD-7EA1A989DD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1156" y="603249"/>
            <a:ext cx="7058137" cy="3711214"/>
          </a:xfrm>
          <a:prstGeom prst="roundRect">
            <a:avLst>
              <a:gd name="adj" fmla="val 5301"/>
            </a:avLst>
          </a:prstGeom>
          <a:ln w="19050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344844723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92000"/>
                <a:satMod val="180000"/>
                <a:lumMod val="114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DEB094D4-7FD8-4F86-93D5-B0F1341EF58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Droplet</Template>
  <TotalTime>382</TotalTime>
  <Words>807</Words>
  <Application>Microsoft Office PowerPoint</Application>
  <PresentationFormat>On-screen Show (16:9)</PresentationFormat>
  <Paragraphs>88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Times New Roman</vt:lpstr>
      <vt:lpstr>Wingdings</vt:lpstr>
      <vt:lpstr>Tw Cen MT</vt:lpstr>
      <vt:lpstr>Arial</vt:lpstr>
      <vt:lpstr>Droplet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VƯƠNG QUỐC CƯỜNG</cp:lastModifiedBy>
  <cp:revision>4</cp:revision>
  <dcterms:created xsi:type="dcterms:W3CDTF">2026-05-05T08:34:08Z</dcterms:created>
  <dcterms:modified xsi:type="dcterms:W3CDTF">2026-05-07T17:32:54Z</dcterms:modified>
</cp:coreProperties>
</file>